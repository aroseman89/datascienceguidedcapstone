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DM Sans Medium"/>
      <p:regular r:id="rId15"/>
      <p:bold r:id="rId16"/>
      <p:italic r:id="rId17"/>
      <p:boldItalic r:id="rId18"/>
    </p:embeddedFont>
    <p:embeddedFont>
      <p:font typeface="Merriweather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22" Type="http://schemas.openxmlformats.org/officeDocument/2006/relationships/font" Target="fonts/Merriweather-boldItalic.fntdata"/><Relationship Id="rId21" Type="http://schemas.openxmlformats.org/officeDocument/2006/relationships/font" Target="fonts/Merriweather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DMSansMedium-regular.fntdata"/><Relationship Id="rId14" Type="http://schemas.openxmlformats.org/officeDocument/2006/relationships/slide" Target="slides/slide9.xml"/><Relationship Id="rId17" Type="http://schemas.openxmlformats.org/officeDocument/2006/relationships/font" Target="fonts/DMSansMedium-italic.fntdata"/><Relationship Id="rId16" Type="http://schemas.openxmlformats.org/officeDocument/2006/relationships/font" Target="fonts/DMSansMedium-bold.fntdata"/><Relationship Id="rId19" Type="http://schemas.openxmlformats.org/officeDocument/2006/relationships/font" Target="fonts/Merriweather-regular.fntdata"/><Relationship Id="rId18" Type="http://schemas.openxmlformats.org/officeDocument/2006/relationships/font" Target="fonts/DMSans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20329"/>
            <a:ext cx="11601450" cy="176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Pricing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3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Revenue Optimization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17567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Big Mountain Resort Executive Briefing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2533650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Identifying the Revenue Gap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375285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Market Analysis &amp; Value Misalignment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381625" y="3399355"/>
            <a:ext cx="1428900" cy="57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71500" y="474821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Our model indicates that Big Mountain is currently underpriced by 18% relative to its superior facilities.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715000" y="2981325"/>
            <a:ext cx="762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2586037"/>
            <a:ext cx="4572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$81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4014787"/>
            <a:ext cx="45720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Current Ticket Price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048500" y="2586037"/>
            <a:ext cx="4572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$95.87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048500" y="4014787"/>
            <a:ext cx="45720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Market-Supported Value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Infrastructure vs. Price Disparity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0025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71500" y="241458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Premium Assets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571500" y="2824162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Big Mountain ranks in the top percentiles nationwide for infrastructure: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71500" y="4633912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We are delivering a top-tier experience at a mid-tier price point.</a:t>
            </a:r>
            <a:endParaRPr/>
          </a:p>
        </p:txBody>
      </p:sp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4600" y="2038350"/>
            <a:ext cx="5257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885825" y="358616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952500" y="358616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Vertical Drop: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2,353 ft (Top Tier)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85825" y="387191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52500" y="387191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Snowmaking: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600 Acres (Market Leader)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85825" y="415766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52500" y="415766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Total Chairs: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14 (Industry High)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Leading the National Market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571500" y="5167312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*Analysis based on Random Forest Regression of 277 US resorts. Vertical drop and snowmaking represent 63% of the supportable price weight.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Value Drivers: Feature Importance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571500" y="523875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Closing runs results in a steep non-linear drop in supportable ticket price. Every run counts toward our premium positioning.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Cost of Operational Reductions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66962"/>
            <a:ext cx="349240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66962"/>
            <a:ext cx="3492549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366962"/>
            <a:ext cx="3492400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857250" y="3290887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Price Adjustment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857250" y="3776662"/>
            <a:ext cx="2920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Increase ticket price to </a:t>
            </a: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$94.00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. This remains conservative against the predicted $95.87 market value.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4635400" y="3290887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Season Length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4635400" y="3776662"/>
            <a:ext cx="29210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Prioritize staying open. One additional day represents </a:t>
            </a: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$1.73M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in incremental revenue.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8413700" y="3290887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Capital Wisdom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8413700" y="3776662"/>
            <a:ext cx="2920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Cease snowmaking expansion. At 600 acres, further investment yields </a:t>
            </a: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$0.00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additional price support.</a:t>
            </a:r>
            <a:endParaRPr/>
          </a:p>
        </p:txBody>
      </p:sp>
      <p:pic>
        <p:nvPicPr>
          <p:cNvPr descr="image.png" id="154" name="Google Shape;15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7003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5400" y="27003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3700" y="27003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Pivot: Recommendation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00250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4600" y="2038350"/>
            <a:ext cx="5257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1428750" y="2767012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Alignment: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Synchronize pricing with our world-class infrastructure.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1428750" y="3576637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Efficiency: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Utilize existing snowmaking to extend season, rather than increasing acreage.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1428750" y="4386262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Defense: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Maintain all 105 runs to protect our premium status.</a:t>
            </a:r>
            <a:endParaRPr/>
          </a:p>
        </p:txBody>
      </p:sp>
      <p:pic>
        <p:nvPicPr>
          <p:cNvPr descr="image.png" id="168" name="Google Shape;16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809875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61950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429125"/>
            <a:ext cx="2857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Summary &amp; Conclusion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/>
          <p:nvPr/>
        </p:nvSpPr>
        <p:spPr>
          <a:xfrm>
            <a:off x="571500" y="3052762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571500" y="39862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571500" y="39862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0" name="Google Shape;18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1666875" y="319563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https://static.vecteezy.com/system/resources/previews/023/508/162/non_2x/beautiful-view-of-gornergrat-zermatt-matterhorn-ski-resort-in-switzerland-with-cable-chair-lift-transportation-ski-lifts-in-switzerland-winter-holidays-photo.jpg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1666875" y="361473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www.vecteezy.com</a:t>
            </a:r>
            <a:endParaRPr/>
          </a:p>
        </p:txBody>
      </p:sp>
      <p:pic>
        <p:nvPicPr>
          <p:cNvPr descr="image.png" id="183" name="Google Shape;18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386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1666875" y="41457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https://static.vecteezy.com/system/resources/thumbnails/069/932/417/small/empty-ski-lift-chair-against-snowy-mountain-backdrop-photo.jpg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1666875" y="43791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www.vecteezy.com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